
<file path=[Content_Types].xml><?xml version="1.0" encoding="utf-8"?>
<Types xmlns="http://schemas.openxmlformats.org/package/2006/content-types"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Introduction" id="{f24542ff-470c-ce26-a07e-5ce3de0dc257}">
          <p14:sldIdLst>
            <p14:sldId id="256"/>
          </p14:sldIdLst>
        </p14:section>
        <p14:section name="Default-1" id="{1582cf3d-2320-c9ad-07ec-92a1af5293e5}">
          <p14:sldIdLst>
            <p14:sldId id="257"/>
            <p14:sldId id="258"/>
            <p14:sldId id="259"/>
          </p14:sldIdLst>
        </p14:section>
        <p14:section name="System design" id="{152ccd8b-43cc-8a96-077f-f06c31613884}">
          <p14:sldIdLst/>
        </p14:section>
        <p14:section name="Default-2" id="{75f5b5f7-3bda-b29a-03ec-9573c5d479dd}">
          <p14:sldIdLst>
            <p14:sldId id="260"/>
            <p14:sldId id="261"/>
            <p14:sldId id="262"/>
          </p14:sldIdLst>
        </p14:section>
        <p14:section name="Evidence" id="{631da6f4-7ec9-0506-b257-a39ae62f88f2}">
          <p14:sldIdLst/>
        </p14:section>
        <p14:section name="Default-3" id="{339413d2-398d-4240-90e8-0c72b1d8506f}">
          <p14:sldIdLst>
            <p14:sldId id="263"/>
            <p14:sldId id="264"/>
          </p14:sldIdLst>
        </p14:section>
        <p14:section name="Method and results" id="{288e5695-ac84-bc8b-d397-7354ede153e3}">
          <p14:sldIdLst/>
        </p14:section>
        <p14:section name="Default-4" id="{4a8d2fbe-8ad4-44f1-5ef5-284ce86ddaca}">
          <p14:sldIdLst>
            <p14:sldId id="265"/>
            <p14:sldId id="266"/>
            <p14:sldId id="267"/>
            <p14:sldId id="268"/>
            <p14:sldId id="269"/>
          </p14:sldIdLst>
        </p14:section>
        <p14:section name="Impact" id="{643b7f54-8db7-c55c-a25e-d5f6e7b5ceff}">
          <p14:sldIdLst/>
        </p14:section>
        <p14:section name="Default-5" id="{91818e0f-1e89-8bed-71f8-68ae29443c6a}">
          <p14:sldIdLst>
            <p14:sldId id="270"/>
            <p14:sldId id="271"/>
            <p14:sldId id="272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r>
              <a:rPr sz="1200" b="0" i="0" u="none" strike="noStrike">
                <a:solidFill>
                  <a:srgbClr val="000000"/>
                </a:solidFill>
                <a:latin typeface="Arial"/>
              </a:rPr>
              <a:t>Images per grade (N = 3,662)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Images</c:v>
                </c:pt>
              </c:strCache>
            </c:strRef>
          </c:tx>
          <c:spPr>
            <a:solidFill>
              <a:srgbClr val="0284C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0 No DR</c:v>
                  </c:pt>
                  <c:pt idx="1">
                    <c:v>1 Mild</c:v>
                  </c:pt>
                  <c:pt idx="2">
                    <c:v>2 Moderate</c:v>
                  </c:pt>
                  <c:pt idx="3">
                    <c:v>3 Severe</c:v>
                  </c:pt>
                  <c:pt idx="4">
                    <c:v>4 Prolif.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1805</c:v>
                </c:pt>
                <c:pt idx="1">
                  <c:v>370</c:v>
                </c:pt>
                <c:pt idx="2">
                  <c:v>999</c:v>
                </c:pt>
                <c:pt idx="3">
                  <c:v>193</c:v>
                </c:pt>
                <c:pt idx="4">
                  <c:v>295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0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000000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000000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r>
              <a:rPr sz="1200" b="0" i="0" u="none" strike="noStrike">
                <a:solidFill>
                  <a:srgbClr val="000000"/>
                </a:solidFill>
                <a:latin typeface="Arial"/>
              </a:rPr>
              <a:t>QWK (higher is better)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QWK (higher is better)</c:v>
                </c:pt>
              </c:strCache>
            </c:strRef>
          </c:tx>
          <c:spPr>
            <a:solidFill>
              <a:srgbClr val="64748B"/>
            </a:solidFill>
            <a:effectLst/>
          </c:spPr>
          <c:invertIfNegative val="0"/>
          <c:dLbls>
            <c:numFmt formatCode="0.000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64748B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F59E0B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3A89E"/>
              </a:solidFill>
              <a:effectLst/>
            </c:spPr>
          </c:dPt>
          <c:cat>
            <c:strRef>
              <c:f>Sheet1!$A$2:$A$5</c:f>
              <c:strCache>
                <c:ptCount val="4"/>
                <c:pt idx="0">
                  <c:v>A Softmax</c:v>
                </c:pt>
                <c:pt idx="1">
                  <c:v>B CORAL</c:v>
                </c:pt>
                <c:pt idx="2">
                  <c:v>C Regression</c:v>
                </c:pt>
                <c:pt idx="3">
                  <c:v>D CORN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0.8724</c:v>
                </c:pt>
                <c:pt idx="1">
                  <c:v>0.7273</c:v>
                </c:pt>
                <c:pt idx="2">
                  <c:v>0.8788</c:v>
                </c:pt>
                <c:pt idx="3">
                  <c:v>0.8482</c:v>
                </c:pt>
              </c:numCache>
            </c:numRef>
          </c:val>
        </c:ser>
        <c:dLbls>
          <c:numFmt formatCode="0.0000" sourceLinked="0"/>
          <c:txPr>
            <a:bodyPr/>
            <a:lstStyle/>
            <a:p>
              <a:pPr>
                <a:defRPr b="0" i="0" strike="noStrike" sz="10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000000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000000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r>
              <a:rPr sz="1200" b="0" i="0" u="none" strike="noStrike">
                <a:solidFill>
                  <a:srgbClr val="000000"/>
                </a:solidFill>
                <a:latin typeface="Arial"/>
              </a:rPr>
              <a:t>Severe errors, d ≥ 2 (%)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Severe errors, d ≥ 2 (%)</c:v>
                </c:pt>
              </c:strCache>
            </c:strRef>
          </c:tx>
          <c:spPr>
            <a:solidFill>
              <a:srgbClr val="64748B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64748B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F59E0B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3A89E"/>
              </a:solidFill>
              <a:effectLst/>
            </c:spPr>
          </c:dPt>
          <c:cat>
            <c:strRef>
              <c:f>Sheet1!$A$2:$A$5</c:f>
              <c:strCache>
                <c:ptCount val="4"/>
                <c:pt idx="0">
                  <c:v>A Softmax</c:v>
                </c:pt>
                <c:pt idx="1">
                  <c:v>B CORAL</c:v>
                </c:pt>
                <c:pt idx="2">
                  <c:v>C Regression</c:v>
                </c:pt>
                <c:pt idx="3">
                  <c:v>D CORN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5.6</c:v>
                </c:pt>
                <c:pt idx="1">
                  <c:v>26.4</c:v>
                </c:pt>
                <c:pt idx="2">
                  <c:v>3.8</c:v>
                </c:pt>
                <c:pt idx="3">
                  <c:v>5.1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b="0" i="0" strike="noStrike" sz="10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000000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000000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64008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4632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457200" y="228600"/>
            <a:ext cx="8229600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2400" b="1" dirty="0">
                <a:solidFill>
                  <a:schemeClr val="tx2"/>
                </a:solidFill>
              </a:defRPr>
            </a:lvl1pPr>
          </a:lstStyle>
          <a:p>
            <a:pPr indent="0" marL="0">
              <a:buNone/>
            </a:pP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4632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4632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chart" Target="../charts/chart1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chart" Target="../charts/chart2.xml"/><Relationship Id="rId2" Type="http://schemas.openxmlformats.org/officeDocument/2006/relationships/chart" Target="../charts/chart3.xml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1188720"/>
            <a:ext cx="78638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chemeClr val="bg1"/>
                </a:solidFill>
              </a:rPr>
              <a:t>Ordinal Neural Networks for Diabetic Retinopathy Staging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2560320"/>
            <a:ext cx="7863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i="1" dirty="0">
                <a:solidFill>
                  <a:srgbClr val="7DD3FC"/>
                </a:solidFill>
              </a:rPr>
              <a:t>Enforcing monotonic rank consistency for safety-critical clinical decision support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3931920"/>
            <a:ext cx="7863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CBD5E1"/>
                </a:solidFill>
              </a:rPr>
              <a:t>AI in Enterprise Systems · Clinical Decision Support  |  APTOS 2019 (3,662 fundus photographs)  |  PyTorch · EfficientNet-B0 · seed 42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457200" y="2286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Research question and thesis</a:t>
            </a:r>
            <a:endParaRPr lang="en-US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00584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i="1" dirty="0">
                <a:solidFill>
                  <a:schemeClr val="accent1"/>
                </a:solidFill>
              </a:rPr>
              <a:t>How does the loss function of a deep network affect patient safety and referral accuracy in automated DR triage?</a:t>
            </a:r>
            <a:endParaRPr lang="en-US" sz="1800" dirty="0"/>
          </a:p>
        </p:txBody>
      </p:sp>
      <p:sp>
        <p:nvSpPr>
          <p:cNvPr id="4" name="softmax card"/>
          <p:cNvSpPr/>
          <p:nvPr/>
        </p:nvSpPr>
        <p:spPr>
          <a:xfrm>
            <a:off x="457200" y="1920240"/>
            <a:ext cx="3977640" cy="1371600"/>
          </a:xfrm>
          <a:prstGeom prst="rect">
            <a:avLst/>
          </a:prstGeom>
          <a:solidFill>
            <a:schemeClr val="bg2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5" name="softmax header"/>
          <p:cNvSpPr/>
          <p:nvPr/>
        </p:nvSpPr>
        <p:spPr>
          <a:xfrm>
            <a:off x="457200" y="1920240"/>
            <a:ext cx="3977640" cy="365760"/>
          </a:xfrm>
          <a:prstGeom prst="rect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48640" y="1920240"/>
            <a:ext cx="3794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Nominal softmax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2377440"/>
            <a:ext cx="3794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0F172A"/>
                </a:solidFill>
              </a:rPr>
              <a:t>Every error costs the same. Grade 4 → 0 is penalised like Grade 4 → 3. Risk: dangerous under-triage.</a:t>
            </a:r>
            <a:endParaRPr lang="en-US" sz="1100" dirty="0"/>
          </a:p>
        </p:txBody>
      </p:sp>
      <p:sp>
        <p:nvSpPr>
          <p:cNvPr id="8" name="ordinal card"/>
          <p:cNvSpPr/>
          <p:nvPr/>
        </p:nvSpPr>
        <p:spPr>
          <a:xfrm>
            <a:off x="4709160" y="1920240"/>
            <a:ext cx="3977640" cy="1371600"/>
          </a:xfrm>
          <a:prstGeom prst="rect">
            <a:avLst/>
          </a:prstGeom>
          <a:solidFill>
            <a:schemeClr val="bg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9" name="ordinal header"/>
          <p:cNvSpPr/>
          <p:nvPr/>
        </p:nvSpPr>
        <p:spPr>
          <a:xfrm>
            <a:off x="4709160" y="1920240"/>
            <a:ext cx="3977640" cy="365760"/>
          </a:xfrm>
          <a:prstGeom prst="rect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800600" y="1920240"/>
            <a:ext cx="3794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Distance-aware losses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4800600" y="2377440"/>
            <a:ext cx="3794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0F172A"/>
                </a:solidFill>
              </a:rPr>
              <a:t>Penalty grows with grade distance, which suppresses multi-grade errors (|y − ŷ| ≥ 2).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3474720"/>
            <a:ext cx="8229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0F172A"/>
                </a:solidFill>
              </a:rPr>
              <a:t>Controlled ablation: same EfficientNet-B0, seed 42, stratified 70/15/15 split, three losses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0F172A"/>
                </a:solidFill>
              </a:rPr>
              <a:t>Variant C (Smooth L1 regression): best QWK 0.8788; severe errors 3.8% vs 5.6% (softmax) and 26.4% (CORAL)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0F172A"/>
                </a:solidFill>
              </a:rPr>
              <a:t>Predictions feed a deterministic ICO-style referral rule engine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4632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457200" y="2286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Clinical background: the ICDR 5-grade scale</a:t>
            </a:r>
            <a:endParaRPr lang="en-US" sz="24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05840"/>
          <a:ext cx="8229600" cy="914400"/>
        </p:xfrm>
        <a:graphic>
          <a:graphicData uri="http://schemas.openxmlformats.org/drawingml/2006/table">
            <a:tbl>
              <a:tblPr/>
              <a:tblGrid>
                <a:gridCol w="731520"/>
                <a:gridCol w="1554480"/>
                <a:gridCol w="3200400"/>
                <a:gridCol w="2743200"/>
              </a:tblGrid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Grade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Label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Key findings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Triage action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</a:rPr>
                        <a:t>0</a:t>
                      </a:r>
                      <a:endParaRPr lang="en-US" sz="11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</a:rPr>
                        <a:t>No DR</a:t>
                      </a:r>
                      <a:endParaRPr lang="en-US" sz="11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</a:rPr>
                        <a:t>No visible abnormalities</a:t>
                      </a:r>
                      <a:endParaRPr lang="en-US" sz="11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</a:rPr>
                        <a:t>Routine annual screening</a:t>
                      </a:r>
                      <a:endParaRPr lang="en-US" sz="11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</a:rPr>
                        <a:t>1</a:t>
                      </a:r>
                      <a:endParaRPr lang="en-US" sz="11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</a:rPr>
                        <a:t>Mild NPDR</a:t>
                      </a:r>
                      <a:endParaRPr lang="en-US" sz="11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</a:rPr>
                        <a:t>Microaneurysms only</a:t>
                      </a:r>
                      <a:endParaRPr lang="en-US" sz="11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</a:rPr>
                        <a:t>Annual rescreening</a:t>
                      </a:r>
                      <a:endParaRPr lang="en-US" sz="11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</a:rPr>
                        <a:t>2</a:t>
                      </a:r>
                      <a:endParaRPr lang="en-US" sz="11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</a:rPr>
                        <a:t>Moderate NPDR</a:t>
                      </a:r>
                      <a:endParaRPr lang="en-US" sz="11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</a:rPr>
                        <a:t>More than microaneurysms, less than severe</a:t>
                      </a:r>
                      <a:endParaRPr lang="en-US" sz="11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</a:rPr>
                        <a:t>6-month ophthalmologist follow-up</a:t>
                      </a:r>
                      <a:endParaRPr lang="en-US" sz="11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</a:rPr>
                        <a:t>3</a:t>
                      </a:r>
                      <a:endParaRPr lang="en-US" sz="11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</a:rPr>
                        <a:t>Severe NPDR</a:t>
                      </a:r>
                      <a:endParaRPr lang="en-US" sz="11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</a:rPr>
                        <a:t>4-2-1 rule: hemorrhages, venous beading, IRMA</a:t>
                      </a:r>
                      <a:endParaRPr lang="en-US" sz="11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</a:rPr>
                        <a:t>Urgent referral (&lt; 2 weeks)</a:t>
                      </a:r>
                      <a:endParaRPr lang="en-US" sz="11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</a:rPr>
                        <a:t>4</a:t>
                      </a:r>
                      <a:endParaRPr lang="en-US" sz="11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</a:rPr>
                        <a:t>Proliferative DR</a:t>
                      </a:r>
                      <a:endParaRPr lang="en-US" sz="11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</a:rPr>
                        <a:t>Neovascularization, vitreous hemorrhage</a:t>
                      </a:r>
                      <a:endParaRPr lang="en-US" sz="11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</a:rPr>
                        <a:t>Emergency intervention (&lt; 48 h)</a:t>
                      </a:r>
                      <a:endParaRPr lang="en-US" sz="11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457200" y="384048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chemeClr val="tx1"/>
                </a:solidFill>
              </a:rPr>
              <a:t>DR is the leading cause of preventable blindness in working-age adults; timely treatment sharply reduces severe vision loss.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4632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457200" y="2286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Why softmax cross-entropy is blind to grade distance</a:t>
            </a:r>
            <a:endParaRPr lang="en-US" sz="2400" dirty="0"/>
          </a:p>
        </p:txBody>
      </p:sp>
      <p:sp>
        <p:nvSpPr>
          <p:cNvPr id="4" name="Text 1"/>
          <p:cNvSpPr txBox="1"/>
          <p:nvPr/>
        </p:nvSpPr>
        <p:spPr>
          <a:xfrm>
            <a:off x="457200" y="100584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One-hot labels are orthogonal: ‖yᵢ − yⱼ‖ = √2 for every i ≠ j, and L = −log p̂(true class).</a:t>
            </a:r>
            <a:endParaRPr lang="en-US" sz="1500" dirty="0"/>
          </a:p>
        </p:txBody>
      </p:sp>
      <p:sp>
        <p:nvSpPr>
          <p:cNvPr id="5" name="m1 card"/>
          <p:cNvSpPr/>
          <p:nvPr/>
        </p:nvSpPr>
        <p:spPr>
          <a:xfrm>
            <a:off x="457200" y="1737360"/>
            <a:ext cx="3977640" cy="1280160"/>
          </a:xfrm>
          <a:prstGeom prst="rect">
            <a:avLst/>
          </a:prstGeom>
          <a:solidFill>
            <a:schemeClr val="bg2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6" name="m1 header"/>
          <p:cNvSpPr/>
          <p:nvPr/>
        </p:nvSpPr>
        <p:spPr>
          <a:xfrm>
            <a:off x="457200" y="1737360"/>
            <a:ext cx="3977640" cy="365760"/>
          </a:xfrm>
          <a:prstGeom prst="rect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548640" y="1737360"/>
            <a:ext cx="3794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Model 1: predicts Grade 0 (80%)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548640" y="2194560"/>
            <a:ext cx="3794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0F172A"/>
                </a:solidFill>
              </a:rPr>
              <a:t>True grade 4, p̂₄ = 0.05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0F172A"/>
                </a:solidFill>
              </a:rPr>
              <a:t>Loss = −log 0.05 = 2.9957</a:t>
            </a:r>
            <a:endParaRPr lang="en-US" sz="1100" dirty="0"/>
          </a:p>
        </p:txBody>
      </p:sp>
      <p:sp>
        <p:nvSpPr>
          <p:cNvPr id="9" name="m2 card"/>
          <p:cNvSpPr/>
          <p:nvPr/>
        </p:nvSpPr>
        <p:spPr>
          <a:xfrm>
            <a:off x="4709160" y="1737360"/>
            <a:ext cx="3977640" cy="1280160"/>
          </a:xfrm>
          <a:prstGeom prst="rect">
            <a:avLst/>
          </a:prstGeom>
          <a:solidFill>
            <a:schemeClr val="bg2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10" name="m2 header"/>
          <p:cNvSpPr/>
          <p:nvPr/>
        </p:nvSpPr>
        <p:spPr>
          <a:xfrm>
            <a:off x="4709160" y="1737360"/>
            <a:ext cx="3977640" cy="365760"/>
          </a:xfrm>
          <a:prstGeom prst="rect">
            <a:avLst/>
          </a:prstGeom>
          <a:solidFill>
            <a:schemeClr val="accent6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4800600" y="1737360"/>
            <a:ext cx="3794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Model 2: predicts Grade 3 (80%)</a:t>
            </a:r>
            <a:endParaRPr lang="en-US" sz="1200" dirty="0"/>
          </a:p>
        </p:txBody>
      </p:sp>
      <p:sp>
        <p:nvSpPr>
          <p:cNvPr id="12" name="Text 9"/>
          <p:cNvSpPr txBox="1"/>
          <p:nvPr/>
        </p:nvSpPr>
        <p:spPr>
          <a:xfrm>
            <a:off x="4800600" y="2194560"/>
            <a:ext cx="3794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0F172A"/>
                </a:solidFill>
              </a:rPr>
              <a:t>True grade 4, p̂₄ = 0.05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0F172A"/>
                </a:solidFill>
              </a:rPr>
              <a:t>Loss = −log 0.05 = 2.9957</a:t>
            </a:r>
            <a:endParaRPr lang="en-US" sz="1100" dirty="0"/>
          </a:p>
        </p:txBody>
      </p:sp>
      <p:sp>
        <p:nvSpPr>
          <p:cNvPr id="13" name="Text 10"/>
          <p:cNvSpPr txBox="1"/>
          <p:nvPr/>
        </p:nvSpPr>
        <p:spPr>
          <a:xfrm>
            <a:off x="457200" y="3291840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</a:rPr>
              <a:t>Identical loss and identical gradient (p̂ₖ − yₖ), even though one patient goes home for an annual check-up and the other is sent for urgent laser treatment.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4632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457200" y="2286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System architecture</a:t>
            </a:r>
            <a:endParaRPr lang="en-US" sz="2400" dirty="0"/>
          </a:p>
        </p:txBody>
      </p:sp>
      <p:sp>
        <p:nvSpPr>
          <p:cNvPr id="3" name="data card"/>
          <p:cNvSpPr/>
          <p:nvPr/>
        </p:nvSpPr>
        <p:spPr>
          <a:xfrm>
            <a:off x="365760" y="1097280"/>
            <a:ext cx="1965960" cy="3291840"/>
          </a:xfrm>
          <a:prstGeom prst="rect">
            <a:avLst/>
          </a:prstGeom>
          <a:solidFill>
            <a:schemeClr val="bg2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4" name="data header"/>
          <p:cNvSpPr/>
          <p:nvPr/>
        </p:nvSpPr>
        <p:spPr>
          <a:xfrm>
            <a:off x="365760" y="1097280"/>
            <a:ext cx="1965960" cy="365760"/>
          </a:xfrm>
          <a:prstGeom prst="rect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1097280"/>
            <a:ext cx="1783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1 · Data pipeline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1554480"/>
            <a:ext cx="178308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0F172A"/>
                </a:solidFill>
              </a:rPr>
              <a:t>APTOS 2019, 3,662 images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0F172A"/>
                </a:solidFill>
              </a:rPr>
              <a:t>Circular crop → LAB-space CLAHE (clip 2.0, 8×8) → 224×224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0F172A"/>
                </a:solidFill>
              </a:rPr>
              <a:t>Stratified 70/15/15: 2,563 / 549 / 550</a:t>
            </a:r>
            <a:endParaRPr lang="en-US" sz="1100" dirty="0"/>
          </a:p>
        </p:txBody>
      </p:sp>
      <p:sp>
        <p:nvSpPr>
          <p:cNvPr id="7" name="backbone card"/>
          <p:cNvSpPr/>
          <p:nvPr/>
        </p:nvSpPr>
        <p:spPr>
          <a:xfrm>
            <a:off x="2423160" y="1097280"/>
            <a:ext cx="1965960" cy="3291840"/>
          </a:xfrm>
          <a:prstGeom prst="rect">
            <a:avLst/>
          </a:prstGeom>
          <a:solidFill>
            <a:schemeClr val="bg2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8" name="backbone header"/>
          <p:cNvSpPr/>
          <p:nvPr/>
        </p:nvSpPr>
        <p:spPr>
          <a:xfrm>
            <a:off x="2423160" y="1097280"/>
            <a:ext cx="1965960" cy="365760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2514600" y="1097280"/>
            <a:ext cx="1783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2 · Shared backbone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2514600" y="1554480"/>
            <a:ext cx="178308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0F172A"/>
                </a:solidFill>
              </a:rPr>
              <a:t>EfficientNet-B0, ImageNet pretrained, 5.3M params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0F172A"/>
                </a:solidFill>
              </a:rPr>
              <a:t>Global average pooling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0F172A"/>
                </a:solidFill>
              </a:rPr>
              <a:t>Dropout (0.2–0.3)</a:t>
            </a:r>
            <a:endParaRPr lang="en-US" sz="1100" dirty="0"/>
          </a:p>
        </p:txBody>
      </p:sp>
      <p:sp>
        <p:nvSpPr>
          <p:cNvPr id="11" name="variants card"/>
          <p:cNvSpPr/>
          <p:nvPr/>
        </p:nvSpPr>
        <p:spPr>
          <a:xfrm>
            <a:off x="4480560" y="1097280"/>
            <a:ext cx="1965960" cy="3291840"/>
          </a:xfrm>
          <a:prstGeom prst="rect">
            <a:avLst/>
          </a:prstGeom>
          <a:solidFill>
            <a:schemeClr val="bg2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12" name="variants header"/>
          <p:cNvSpPr/>
          <p:nvPr/>
        </p:nvSpPr>
        <p:spPr>
          <a:xfrm>
            <a:off x="4480560" y="1097280"/>
            <a:ext cx="1965960" cy="365760"/>
          </a:xfrm>
          <a:prstGeom prst="rect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572000" y="1097280"/>
            <a:ext cx="1783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3 · Loss ablation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4572000" y="1554480"/>
            <a:ext cx="178308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0F172A"/>
                </a:solidFill>
              </a:rPr>
              <a:t>A: Linear(→5) + cross-entropy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0F172A"/>
                </a:solidFill>
              </a:rPr>
              <a:t>B: CORAL, 4 cumulative binary heads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0F172A"/>
                </a:solidFill>
              </a:rPr>
              <a:t>C: Linear(→1) + Smooth L1, clamp [0,4] and round</a:t>
            </a:r>
            <a:endParaRPr lang="en-US" sz="1100" dirty="0"/>
          </a:p>
        </p:txBody>
      </p:sp>
      <p:sp>
        <p:nvSpPr>
          <p:cNvPr id="15" name="triage card"/>
          <p:cNvSpPr/>
          <p:nvPr/>
        </p:nvSpPr>
        <p:spPr>
          <a:xfrm>
            <a:off x="6537960" y="1097280"/>
            <a:ext cx="2240280" cy="3291840"/>
          </a:xfrm>
          <a:prstGeom prst="rect">
            <a:avLst/>
          </a:prstGeom>
          <a:solidFill>
            <a:schemeClr val="bg2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16" name="triage header"/>
          <p:cNvSpPr/>
          <p:nvPr/>
        </p:nvSpPr>
        <p:spPr>
          <a:xfrm>
            <a:off x="6537960" y="1097280"/>
            <a:ext cx="2240280" cy="365760"/>
          </a:xfrm>
          <a:prstGeom prst="rect">
            <a:avLst/>
          </a:prstGeom>
          <a:solidFill>
            <a:schemeClr val="accent6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629400" y="1097280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4 · Evaluation + triage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6629400" y="1554480"/>
            <a:ext cx="205740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0F172A"/>
                </a:solidFill>
              </a:rPr>
              <a:t>QWK, MAE, confusion matrices, error distances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0F172A"/>
                </a:solidFill>
              </a:rPr>
              <a:t>Rule engine: 0–1 annual, 2 six-month + OCT, 3–4 urgent specialist (&lt; 2 weeks)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4632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457200" y="2286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Clinical triage workflow</a:t>
            </a:r>
            <a:endParaRPr lang="en-US" sz="2400" dirty="0"/>
          </a:p>
        </p:txBody>
      </p:sp>
      <p:sp>
        <p:nvSpPr>
          <p:cNvPr id="3" name="step 1"/>
          <p:cNvSpPr/>
          <p:nvPr/>
        </p:nvSpPr>
        <p:spPr>
          <a:xfrm>
            <a:off x="411480" y="1097280"/>
            <a:ext cx="1417320" cy="914400"/>
          </a:xfrm>
          <a:prstGeom prst="roundRect">
            <a:avLst>
              <a:gd name="adj" fmla="val 8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484632" y="1097280"/>
            <a:ext cx="127101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Fundus image uploaded</a:t>
            </a:r>
            <a:endParaRPr lang="en-US" sz="1100" dirty="0"/>
          </a:p>
        </p:txBody>
      </p:sp>
      <p:sp>
        <p:nvSpPr>
          <p:cNvPr id="5" name="arrow 1"/>
          <p:cNvSpPr/>
          <p:nvPr/>
        </p:nvSpPr>
        <p:spPr>
          <a:xfrm>
            <a:off x="1856232" y="1444752"/>
            <a:ext cx="201168" cy="219456"/>
          </a:xfrm>
          <a:prstGeom prst="rightArrow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6" name="step 2"/>
          <p:cNvSpPr/>
          <p:nvPr/>
        </p:nvSpPr>
        <p:spPr>
          <a:xfrm>
            <a:off x="2093976" y="1097280"/>
            <a:ext cx="1417320" cy="914400"/>
          </a:xfrm>
          <a:prstGeom prst="roundRect">
            <a:avLst>
              <a:gd name="adj" fmla="val 8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2167128" y="1097280"/>
            <a:ext cx="127101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Quality check and crop</a:t>
            </a:r>
            <a:endParaRPr lang="en-US" sz="1100" dirty="0"/>
          </a:p>
        </p:txBody>
      </p:sp>
      <p:sp>
        <p:nvSpPr>
          <p:cNvPr id="8" name="arrow 2"/>
          <p:cNvSpPr/>
          <p:nvPr/>
        </p:nvSpPr>
        <p:spPr>
          <a:xfrm>
            <a:off x="3538728" y="1444752"/>
            <a:ext cx="201168" cy="219456"/>
          </a:xfrm>
          <a:prstGeom prst="rightArrow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9" name="step 3"/>
          <p:cNvSpPr/>
          <p:nvPr/>
        </p:nvSpPr>
        <p:spPr>
          <a:xfrm>
            <a:off x="3776472" y="1097280"/>
            <a:ext cx="1417320" cy="914400"/>
          </a:xfrm>
          <a:prstGeom prst="roundRect">
            <a:avLst>
              <a:gd name="adj" fmla="val 8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849624" y="1097280"/>
            <a:ext cx="127101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CLAHE, resize 224×224</a:t>
            </a:r>
            <a:endParaRPr lang="en-US" sz="1100" dirty="0"/>
          </a:p>
        </p:txBody>
      </p:sp>
      <p:sp>
        <p:nvSpPr>
          <p:cNvPr id="11" name="arrow 3"/>
          <p:cNvSpPr/>
          <p:nvPr/>
        </p:nvSpPr>
        <p:spPr>
          <a:xfrm>
            <a:off x="5221224" y="1444752"/>
            <a:ext cx="201168" cy="219456"/>
          </a:xfrm>
          <a:prstGeom prst="rightArrow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12" name="step 4"/>
          <p:cNvSpPr/>
          <p:nvPr/>
        </p:nvSpPr>
        <p:spPr>
          <a:xfrm>
            <a:off x="5458968" y="1097280"/>
            <a:ext cx="1417320" cy="914400"/>
          </a:xfrm>
          <a:prstGeom prst="roundRect">
            <a:avLst>
              <a:gd name="adj" fmla="val 8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532120" y="1097280"/>
            <a:ext cx="127101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EfficientNet-B0 + active head (A/B/C)</a:t>
            </a:r>
            <a:endParaRPr lang="en-US" sz="1100" dirty="0"/>
          </a:p>
        </p:txBody>
      </p:sp>
      <p:sp>
        <p:nvSpPr>
          <p:cNvPr id="14" name="arrow 4"/>
          <p:cNvSpPr/>
          <p:nvPr/>
        </p:nvSpPr>
        <p:spPr>
          <a:xfrm>
            <a:off x="6903720" y="1444752"/>
            <a:ext cx="201168" cy="219456"/>
          </a:xfrm>
          <a:prstGeom prst="rightArrow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15" name="step 5"/>
          <p:cNvSpPr/>
          <p:nvPr/>
        </p:nvSpPr>
        <p:spPr>
          <a:xfrm>
            <a:off x="7141464" y="1097280"/>
            <a:ext cx="1417320" cy="914400"/>
          </a:xfrm>
          <a:prstGeom prst="roundRect">
            <a:avLst>
              <a:gd name="adj" fmla="val 8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7214616" y="1097280"/>
            <a:ext cx="127101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Rule engine on predicted grade</a:t>
            </a:r>
            <a:endParaRPr lang="en-US" sz="1100" dirty="0"/>
          </a:p>
        </p:txBody>
      </p:sp>
      <p:sp>
        <p:nvSpPr>
          <p:cNvPr id="17" name="r1 card"/>
          <p:cNvSpPr/>
          <p:nvPr/>
        </p:nvSpPr>
        <p:spPr>
          <a:xfrm>
            <a:off x="457200" y="2377440"/>
            <a:ext cx="2606040" cy="1188720"/>
          </a:xfrm>
          <a:prstGeom prst="rect">
            <a:avLst/>
          </a:prstGeom>
          <a:solidFill>
            <a:schemeClr val="bg2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18" name="r1 header"/>
          <p:cNvSpPr/>
          <p:nvPr/>
        </p:nvSpPr>
        <p:spPr>
          <a:xfrm>
            <a:off x="457200" y="2377440"/>
            <a:ext cx="2606040" cy="365760"/>
          </a:xfrm>
          <a:prstGeom prst="rect">
            <a:avLst/>
          </a:prstGeom>
          <a:solidFill>
            <a:schemeClr val="accent6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548640" y="2377440"/>
            <a:ext cx="2423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Grade 0–1: low risk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548640" y="2834640"/>
            <a:ext cx="2423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0F172A"/>
                </a:solidFill>
              </a:rPr>
              <a:t>Clearance certificate, 12-month tele-screening</a:t>
            </a:r>
            <a:endParaRPr lang="en-US" sz="1100" dirty="0"/>
          </a:p>
        </p:txBody>
      </p:sp>
      <p:sp>
        <p:nvSpPr>
          <p:cNvPr id="21" name="r2 card"/>
          <p:cNvSpPr/>
          <p:nvPr/>
        </p:nvSpPr>
        <p:spPr>
          <a:xfrm>
            <a:off x="3291840" y="2377440"/>
            <a:ext cx="2606040" cy="1188720"/>
          </a:xfrm>
          <a:prstGeom prst="rect">
            <a:avLst/>
          </a:prstGeom>
          <a:solidFill>
            <a:schemeClr val="bg2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22" name="r2 header"/>
          <p:cNvSpPr/>
          <p:nvPr/>
        </p:nvSpPr>
        <p:spPr>
          <a:xfrm>
            <a:off x="3291840" y="2377440"/>
            <a:ext cx="2606040" cy="365760"/>
          </a:xfrm>
          <a:prstGeom prst="rect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3383280" y="2377440"/>
            <a:ext cx="2423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Grade 2: moderate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3383280" y="2834640"/>
            <a:ext cx="2423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0F172A"/>
                </a:solidFill>
              </a:rPr>
              <a:t>6-month review with OCT</a:t>
            </a:r>
            <a:endParaRPr lang="en-US" sz="1100" dirty="0"/>
          </a:p>
        </p:txBody>
      </p:sp>
      <p:sp>
        <p:nvSpPr>
          <p:cNvPr id="25" name="r3 card"/>
          <p:cNvSpPr/>
          <p:nvPr/>
        </p:nvSpPr>
        <p:spPr>
          <a:xfrm>
            <a:off x="6126480" y="2377440"/>
            <a:ext cx="2606040" cy="1188720"/>
          </a:xfrm>
          <a:prstGeom prst="rect">
            <a:avLst/>
          </a:prstGeom>
          <a:solidFill>
            <a:schemeClr val="bg2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26" name="r3 header"/>
          <p:cNvSpPr/>
          <p:nvPr/>
        </p:nvSpPr>
        <p:spPr>
          <a:xfrm>
            <a:off x="6126480" y="2377440"/>
            <a:ext cx="2606040" cy="365760"/>
          </a:xfrm>
          <a:prstGeom prst="rect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6217920" y="2377440"/>
            <a:ext cx="2423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Grade 3–4: critical</a:t>
            </a:r>
            <a:endParaRPr lang="en-US" sz="1200" dirty="0"/>
          </a:p>
        </p:txBody>
      </p:sp>
      <p:sp>
        <p:nvSpPr>
          <p:cNvPr id="28" name="Text 26"/>
          <p:cNvSpPr txBox="1"/>
          <p:nvPr/>
        </p:nvSpPr>
        <p:spPr>
          <a:xfrm>
            <a:off x="6217920" y="2834640"/>
            <a:ext cx="2423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0F172A"/>
                </a:solidFill>
              </a:rPr>
              <a:t>Priority alert to hospital EMR, specialist referral within 2 weeks</a:t>
            </a:r>
            <a:endParaRPr lang="en-US" sz="1100" dirty="0"/>
          </a:p>
        </p:txBody>
      </p:sp>
      <p:sp>
        <p:nvSpPr>
          <p:cNvPr id="29" name="Text 27"/>
          <p:cNvSpPr txBox="1"/>
          <p:nvPr/>
        </p:nvSpPr>
        <p:spPr>
          <a:xfrm>
            <a:off x="457200" y="384048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rgbClr val="0F172A"/>
                </a:solidFill>
              </a:rPr>
              <a:t>Actors: primary-care clinician uploads and receives the report · vitreoretinal specialist receives referrals · administrator monitors QWK drift and discordance.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4632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457200" y="2286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Software architecture</a:t>
            </a:r>
            <a:endParaRPr lang="en-US" sz="2400" dirty="0"/>
          </a:p>
        </p:txBody>
      </p:sp>
      <p:sp>
        <p:nvSpPr>
          <p:cNvPr id="3" name="data layer card"/>
          <p:cNvSpPr/>
          <p:nvPr/>
        </p:nvSpPr>
        <p:spPr>
          <a:xfrm>
            <a:off x="457200" y="1097280"/>
            <a:ext cx="2560320" cy="2743200"/>
          </a:xfrm>
          <a:prstGeom prst="rect">
            <a:avLst/>
          </a:prstGeom>
          <a:solidFill>
            <a:schemeClr val="bg2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4" name="data layer header"/>
          <p:cNvSpPr/>
          <p:nvPr/>
        </p:nvSpPr>
        <p:spPr>
          <a:xfrm>
            <a:off x="457200" y="1097280"/>
            <a:ext cx="2560320" cy="365760"/>
          </a:xfrm>
          <a:prstGeom prst="rect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109728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Data layer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554480"/>
            <a:ext cx="237744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0F172A"/>
                </a:solidFill>
              </a:rPr>
              <a:t>APTOSDataset (DataFrame, transform, __getitem__)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0F172A"/>
                </a:solidFill>
              </a:rPr>
              <a:t>Preprocessor (circular crop, CLAHE-LAB, pipeline)</a:t>
            </a:r>
            <a:endParaRPr lang="en-US" sz="1100" dirty="0"/>
          </a:p>
        </p:txBody>
      </p:sp>
      <p:sp>
        <p:nvSpPr>
          <p:cNvPr id="7" name="models card"/>
          <p:cNvSpPr/>
          <p:nvPr/>
        </p:nvSpPr>
        <p:spPr>
          <a:xfrm>
            <a:off x="3291840" y="1097280"/>
            <a:ext cx="2651760" cy="2743200"/>
          </a:xfrm>
          <a:prstGeom prst="rect">
            <a:avLst/>
          </a:prstGeom>
          <a:solidFill>
            <a:schemeClr val="bg2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8" name="models header"/>
          <p:cNvSpPr/>
          <p:nvPr/>
        </p:nvSpPr>
        <p:spPr>
          <a:xfrm>
            <a:off x="3291840" y="1097280"/>
            <a:ext cx="2651760" cy="365760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383280" y="109728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Models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3383280" y="1554480"/>
            <a:ext cx="246888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0F172A"/>
                </a:solidFill>
              </a:rPr>
              <a:t>BackboneEfficientNet (shared)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0F172A"/>
                </a:solidFill>
              </a:rPr>
              <a:t>VariantABaseline: Linear head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0F172A"/>
                </a:solidFill>
              </a:rPr>
              <a:t>VariantBOrdinalCORAL: CoralLayer (shared fc + biases), CoralLoss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0F172A"/>
                </a:solidFill>
              </a:rPr>
              <a:t>VariantCRegression: Linear regressor</a:t>
            </a:r>
            <a:endParaRPr lang="en-US" sz="1100" dirty="0"/>
          </a:p>
        </p:txBody>
      </p:sp>
      <p:sp>
        <p:nvSpPr>
          <p:cNvPr id="11" name="eval layer card"/>
          <p:cNvSpPr/>
          <p:nvPr/>
        </p:nvSpPr>
        <p:spPr>
          <a:xfrm>
            <a:off x="6217920" y="1097280"/>
            <a:ext cx="2468880" cy="2743200"/>
          </a:xfrm>
          <a:prstGeom prst="rect">
            <a:avLst/>
          </a:prstGeom>
          <a:solidFill>
            <a:schemeClr val="bg2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12" name="eval layer header"/>
          <p:cNvSpPr/>
          <p:nvPr/>
        </p:nvSpPr>
        <p:spPr>
          <a:xfrm>
            <a:off x="6217920" y="1097280"/>
            <a:ext cx="2468880" cy="365760"/>
          </a:xfrm>
          <a:prstGeom prst="rect">
            <a:avLst/>
          </a:prstGeom>
          <a:solidFill>
            <a:schemeClr val="accent6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309360" y="109728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Evaluation + triage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6309360" y="1554480"/>
            <a:ext cx="228600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0F172A"/>
                </a:solidFill>
              </a:rPr>
              <a:t>Evaluator: QWK, MAE, error distances, paired bootstrap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0F172A"/>
                </a:solidFill>
              </a:rPr>
              <a:t>ClinicalTriageEngine: triage rule, patient risk, referral order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457200" y="41148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rgbClr val="0F172A"/>
                </a:solidFill>
              </a:rPr>
              <a:t>Dataset uses Preprocessor · each variant composes the backbone · Evaluator informs ClinicalTriageEngine.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4632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457200" y="2286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Literature review: accuracy gains hide ordinal blindness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4632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  <p:graphicFrame>
        <p:nvGraphicFramePr>
          <p:cNvPr id="26" name="Table 25"/>
          <p:cNvGraphicFramePr>
            <a:graphicFrameLocks noGrp="1"/>
          </p:cNvGraphicFramePr>
          <p:nvPr/>
        </p:nvGraphicFramePr>
        <p:xfrm>
          <a:off x="457200" y="1280160"/>
          <a:ext cx="8229600" cy="3657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  <a:gridCol w="2057400"/>
                <a:gridCol w="2057400"/>
              </a:tblGrid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FFFFFF"/>
                          </a:solidFill>
                        </a:rPr>
                        <a:t>Ref / Authors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FFFFFF"/>
                          </a:solidFill>
                        </a:rPr>
                        <a:t>Key Metric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FFFFFF"/>
                          </a:solidFill>
                        </a:rPr>
                        <a:t>Major Limitation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FFFFFF"/>
                          </a:solidFill>
                        </a:rPr>
                        <a:t>Our Advantage (CORN)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FFFFFF"/>
                          </a:solidFill>
                        </a:rPr>
                        <a:t>[1] Khalifa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FFFFFF"/>
                          </a:solidFill>
                        </a:rPr>
                        <a:t>Acc: 97.9%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FFFFFF"/>
                          </a:solidFill>
                        </a:rPr>
                        <a:t>Binary only; ignores 5-stage grading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FFFFFF"/>
                          </a:solidFill>
                        </a:rPr>
                        <a:t>Solves full 5-stage grading with 83.82% acc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FFFFFF"/>
                          </a:solidFill>
                        </a:rPr>
                        <a:t>[2] Shakibania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FFFFFF"/>
                          </a:solidFill>
                        </a:rPr>
                        <a:t>Sev Recall: 36.8%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FFFFFF"/>
                          </a:solidFill>
                        </a:rPr>
                        <a:t>Severe NPDR sensitivity collapsed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FFFFFF"/>
                          </a:solidFill>
                        </a:rPr>
                        <a:t>+28.86% higher Sev Recall (65.7%)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FFFFFF"/>
                          </a:solidFill>
                        </a:rPr>
                        <a:t>[3] Tymchenko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FFFFFF"/>
                          </a:solidFill>
                        </a:rPr>
                        <a:t>QWK: 0.841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FFFFFF"/>
                          </a:solidFill>
                        </a:rPr>
                        <a:t>Relies on image blending (MixUp)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FFFFFF"/>
                          </a:solidFill>
                        </a:rPr>
                        <a:t>Enforces rank consistency directly via CORN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FFFFFF"/>
                          </a:solidFill>
                        </a:rPr>
                        <a:t>[4] Mardianta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FFFFFF"/>
                          </a:solidFill>
                        </a:rPr>
                        <a:t>Acc: 93.3%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FFFFFF"/>
                          </a:solidFill>
                        </a:rPr>
                        <a:t>SMOTE creates blurry artifacts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FFFFFF"/>
                          </a:solidFill>
                        </a:rPr>
                        <a:t>Natural effective-number weighting (beta=0.999)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FFFFFF"/>
                          </a:solidFill>
                        </a:rPr>
                        <a:t>[5] Karthik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FFFFFF"/>
                          </a:solidFill>
                        </a:rPr>
                        <a:t>Sev Recall: 58%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FFFFFF"/>
                          </a:solidFill>
                        </a:rPr>
                        <a:t>Simplified 5 classes into 3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FFFFFF"/>
                          </a:solidFill>
                        </a:rPr>
                        <a:t>Retains all 5 grades, reaches 65.7% sev recall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FFFFFF"/>
                          </a:solidFill>
                        </a:rPr>
                        <a:t>[6] Khokhar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FFFFFF"/>
                          </a:solidFill>
                        </a:rPr>
                        <a:t>QWK: 0.912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FFFFFF"/>
                          </a:solidFill>
                        </a:rPr>
                        <a:t>Prohibitive compute latency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FFFFFF"/>
                          </a:solidFill>
                        </a:rPr>
                        <a:t>Lightweight B0 (&lt;12ms); mobile GPU deployable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FFFFFF"/>
                          </a:solidFill>
                        </a:rPr>
                        <a:t>[7] Manoj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FFFFFF"/>
                          </a:solidFill>
                        </a:rPr>
                        <a:t>Acc: 92.1%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FFFFFF"/>
                          </a:solidFill>
                        </a:rPr>
                        <a:t>Unverified LLM referrals risk safety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FFFFFF"/>
                          </a:solidFill>
                        </a:rPr>
                        <a:t>Mathematically bounds catastrophic errors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457200" y="2286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Dataset: severe class imbalance (APTOS 2019)</a:t>
            </a:r>
            <a:endParaRPr lang="en-US" sz="24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365760" y="1005840"/>
          <a:ext cx="4754880" cy="35661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Text 1"/>
          <p:cNvSpPr txBox="1"/>
          <p:nvPr/>
        </p:nvSpPr>
        <p:spPr>
          <a:xfrm>
            <a:off x="5303520" y="1097280"/>
            <a:ext cx="347472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Grade 0: 49.3% · Grade 1: 10.1% · Grade 2: 27.3% · Grade 3: 5.3% · Grade 4: 8.1%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Circular mask and tight crop remove black borders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LAB-space CLAHE (clip 2.0, 8×8) lifts microaneurysm contrast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Stratified 70/15/15 split, seed 42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4632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457200" y="2286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Three loss formulations on one backbone</a:t>
            </a:r>
            <a:endParaRPr lang="en-US" sz="2400" dirty="0"/>
          </a:p>
        </p:txBody>
      </p:sp>
      <p:sp>
        <p:nvSpPr>
          <p:cNvPr id="4" name="A card"/>
          <p:cNvSpPr/>
          <p:nvPr/>
        </p:nvSpPr>
        <p:spPr>
          <a:xfrm>
            <a:off x="457200" y="1051560"/>
            <a:ext cx="2606040" cy="1737360"/>
          </a:xfrm>
          <a:prstGeom prst="rect">
            <a:avLst/>
          </a:prstGeom>
          <a:solidFill>
            <a:schemeClr val="bg2"/>
          </a:solidFill>
          <a:ln w="12700">
            <a:solidFill>
              <a:schemeClr val="accent5"/>
            </a:solidFill>
            <a:prstDash val="solid"/>
          </a:ln>
        </p:spPr>
        <p:txBody>
          <a:bodyPr/>
          <a:p/>
        </p:txBody>
      </p:sp>
      <p:sp>
        <p:nvSpPr>
          <p:cNvPr id="5" name="A header"/>
          <p:cNvSpPr/>
          <p:nvPr/>
        </p:nvSpPr>
        <p:spPr>
          <a:xfrm>
            <a:off x="457200" y="1051560"/>
            <a:ext cx="2606040" cy="365760"/>
          </a:xfrm>
          <a:prstGeom prst="rect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  <p:txBody>
          <a:bodyPr/>
          <a:p/>
        </p:txBody>
      </p:sp>
      <p:sp>
        <p:nvSpPr>
          <p:cNvPr id="6" name="Text 3"/>
          <p:cNvSpPr txBox="1"/>
          <p:nvPr/>
        </p:nvSpPr>
        <p:spPr>
          <a:xfrm>
            <a:off x="548640" y="1051560"/>
            <a:ext cx="2423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A · Softmax</a:t>
            </a:r>
            <a:endParaRPr lang="en-US" sz="12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1508760"/>
            <a:ext cx="24231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0F172A"/>
                </a:solidFill>
              </a:rPr>
              <a:t>Linear → 5 logits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0F172A"/>
                </a:solidFill>
              </a:rPr>
              <a:t>Categorical cross-entropy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0F172A"/>
                </a:solidFill>
              </a:rPr>
              <a:t>Inference: argmax</a:t>
            </a:r>
            <a:endParaRPr lang="en-US" sz="1100" dirty="0"/>
          </a:p>
        </p:txBody>
      </p:sp>
      <p:sp>
        <p:nvSpPr>
          <p:cNvPr id="8" name="B card"/>
          <p:cNvSpPr/>
          <p:nvPr/>
        </p:nvSpPr>
        <p:spPr>
          <a:xfrm>
            <a:off x="3291840" y="1051560"/>
            <a:ext cx="2606040" cy="1737360"/>
          </a:xfrm>
          <a:prstGeom prst="rect">
            <a:avLst/>
          </a:prstGeom>
          <a:solidFill>
            <a:schemeClr val="bg2"/>
          </a:solidFill>
          <a:ln w="12700">
            <a:solidFill>
              <a:schemeClr val="accent3"/>
            </a:solidFill>
            <a:prstDash val="solid"/>
          </a:ln>
        </p:spPr>
        <p:txBody>
          <a:bodyPr/>
          <a:p/>
        </p:txBody>
      </p:sp>
      <p:sp>
        <p:nvSpPr>
          <p:cNvPr id="9" name="B header"/>
          <p:cNvSpPr/>
          <p:nvPr/>
        </p:nvSpPr>
        <p:spPr>
          <a:xfrm>
            <a:off x="3291840" y="1051560"/>
            <a:ext cx="2606040" cy="365760"/>
          </a:xfrm>
          <a:prstGeom prst="rect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  <p:txBody>
          <a:bodyPr/>
          <a:p/>
        </p:txBody>
      </p:sp>
      <p:sp>
        <p:nvSpPr>
          <p:cNvPr id="10" name="Text 7"/>
          <p:cNvSpPr txBox="1"/>
          <p:nvPr/>
        </p:nvSpPr>
        <p:spPr>
          <a:xfrm>
            <a:off x="3383280" y="1051560"/>
            <a:ext cx="2423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B · CORAL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3383280" y="1508760"/>
            <a:ext cx="24231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0F172A"/>
                </a:solidFill>
              </a:rPr>
              <a:t>Shared w, biases b_k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0F172A"/>
                </a:solidFill>
              </a:rPr>
              <a:t>P(y &gt; k) = σ(wᵀφ(x) + b_k), k = 0..3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0F172A"/>
                </a:solidFill>
              </a:rPr>
              <a:t>Summed binary CE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0F172A"/>
                </a:solidFill>
              </a:rPr>
              <a:t>Inference: Σ 1[σ &gt; 0.5]</a:t>
            </a:r>
            <a:endParaRPr lang="en-US" sz="1100" dirty="0"/>
          </a:p>
        </p:txBody>
      </p:sp>
      <p:sp>
        <p:nvSpPr>
          <p:cNvPr id="12" name="C card"/>
          <p:cNvSpPr/>
          <p:nvPr/>
        </p:nvSpPr>
        <p:spPr>
          <a:xfrm>
            <a:off x="6126480" y="1051560"/>
            <a:ext cx="2606040" cy="1737360"/>
          </a:xfrm>
          <a:prstGeom prst="rect">
            <a:avLst/>
          </a:prstGeom>
          <a:solidFill>
            <a:schemeClr val="bg2"/>
          </a:solidFill>
          <a:ln w="12700">
            <a:solidFill>
              <a:schemeClr val="accent2"/>
            </a:solidFill>
            <a:prstDash val="solid"/>
          </a:ln>
        </p:spPr>
        <p:txBody>
          <a:bodyPr/>
          <a:p/>
        </p:txBody>
      </p:sp>
      <p:sp>
        <p:nvSpPr>
          <p:cNvPr id="13" name="C header"/>
          <p:cNvSpPr/>
          <p:nvPr/>
        </p:nvSpPr>
        <p:spPr>
          <a:xfrm>
            <a:off x="6126480" y="1051560"/>
            <a:ext cx="2606040" cy="365760"/>
          </a:xfrm>
          <a:prstGeom prst="rect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  <p:txBody>
          <a:bodyPr/>
          <a:p/>
        </p:txBody>
      </p:sp>
      <p:sp>
        <p:nvSpPr>
          <p:cNvPr id="14" name="Text 11"/>
          <p:cNvSpPr txBox="1"/>
          <p:nvPr/>
        </p:nvSpPr>
        <p:spPr>
          <a:xfrm>
            <a:off x="6217920" y="1051560"/>
            <a:ext cx="2423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C · Regression</a:t>
            </a:r>
            <a:endParaRPr lang="en-US" sz="1200" dirty="0"/>
          </a:p>
        </p:txBody>
      </p:sp>
      <p:sp>
        <p:nvSpPr>
          <p:cNvPr id="15" name="Text 12"/>
          <p:cNvSpPr txBox="1"/>
          <p:nvPr/>
        </p:nvSpPr>
        <p:spPr>
          <a:xfrm>
            <a:off x="6217920" y="1508760"/>
            <a:ext cx="24231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0F172A"/>
                </a:solidFill>
              </a:rPr>
              <a:t>Linear → 1 scalar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0F172A"/>
                </a:solidFill>
              </a:rPr>
              <a:t>Smooth L1 (Huber) loss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0F172A"/>
                </a:solidFill>
              </a:rPr>
              <a:t>Inference: round(clip(s, 0, 4))</a:t>
            </a:r>
            <a:endParaRPr lang="en-US" sz="1100" dirty="0"/>
          </a:p>
        </p:txBody>
      </p:sp>
      <p:sp>
        <p:nvSpPr>
          <p:cNvPr id="16" name="Text 13"/>
          <p:cNvSpPr txBox="1"/>
          <p:nvPr/>
        </p:nvSpPr>
        <p:spPr>
          <a:xfrm>
            <a:off x="457200" y="3063240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0F172A"/>
                </a:solidFill>
              </a:rPr>
              <a:t>CORAL targets: Grade 0 = [0,0,0,0], Grade 2 = [1,1,0,0], Grade 4 = [1,1,1,1]. Shared weights give parallel hyperplanes, and ordered biases keep ranks consistent.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4632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  <p:sp>
        <p:nvSpPr>
          <p:cNvPr id="26" name="TextBox 25"/>
          <p:cNvSpPr txBox="1"/>
          <p:nvPr/>
        </p:nvSpPr>
        <p:spPr>
          <a:xfrm>
            <a:off x="457200" y="384048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defRPr b="1" sz="1600">
                <a:solidFill>
                  <a:srgbClr val="7DD3FC"/>
                </a:solidFill>
              </a:defRPr>
            </a:pPr>
            <a:r>
              <a:rPr>
                <a:solidFill>
                  <a:srgbClr val="0F172A"/>
                </a:solidFill>
              </a:rPr>
              <a:t>Variant D (CORN) &amp; Accuracy Optimization:</a:t>
            </a:r>
          </a:p>
          <a:p>
            <a:pPr>
              <a:defRPr sz="1300">
                <a:solidFill>
                  <a:srgbClr val="FFFFFF"/>
                </a:solidFill>
              </a:defRPr>
            </a:pPr>
            <a:r>
              <a:rPr>
                <a:solidFill>
                  <a:srgbClr val="0F172A"/>
                </a:solidFill>
              </a:rPr>
              <a:t>• CORN: Conditional probabilities, effective-number weighting, Soft-QWK loss.</a:t>
            </a:r>
            <a:br/>
            <a:r>
              <a:rPr>
                <a:solidFill>
                  <a:srgbClr val="0F172A"/>
                </a:solidFill>
              </a:rPr>
              <a:t>• Optimization: 3-seed ensemble (TTA), label smoothing, logit adjustment.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457200" y="2286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Results on the held-out test set (N = 550)</a:t>
            </a:r>
            <a:endParaRPr lang="en-US" sz="2400" dirty="0"/>
          </a:p>
        </p:txBody>
      </p:sp>
      <p:sp>
        <p:nvSpPr>
          <p:cNvPr id="5" name="Text 1"/>
          <p:cNvSpPr txBox="1"/>
          <p:nvPr/>
        </p:nvSpPr>
        <p:spPr>
          <a:xfrm>
            <a:off x="457200" y="41148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Softmax is best on exact match; Variant C is best on QWK and has the fewest multi-grade errors.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4632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11</a:t>
            </a:fld>
            <a:endParaRPr lang="en-US"/>
          </a:p>
        </p:txBody>
      </p:sp>
      <p:graphicFrame>
        <p:nvGraphicFramePr>
          <p:cNvPr id="26" name="Table 25"/>
          <p:cNvGraphicFramePr>
            <a:graphicFrameLocks noGrp="1"/>
          </p:cNvGraphicFramePr>
          <p:nvPr/>
        </p:nvGraphicFramePr>
        <p:xfrm>
          <a:off x="457200" y="1554480"/>
          <a:ext cx="8229600" cy="3474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600"/>
                <a:gridCol w="1371600"/>
                <a:gridCol w="1371600"/>
                <a:gridCol w="1371600"/>
                <a:gridCol w="1371600"/>
                <a:gridCol w="1371600"/>
              </a:tblGrid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FFFFFF"/>
                          </a:solidFill>
                        </a:rPr>
                        <a:t>Model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FFFFFF"/>
                          </a:solidFill>
                        </a:rPr>
                        <a:t>Accuracy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FFFFFF"/>
                          </a:solidFill>
                        </a:rPr>
                        <a:t>QWK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FFFFFF"/>
                          </a:solidFill>
                        </a:rPr>
                        <a:t>Sev Recall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FFFFFF"/>
                          </a:solidFill>
                        </a:rPr>
                        <a:t>Err (d&gt;=2)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FFFFFF"/>
                          </a:solidFill>
                        </a:rPr>
                        <a:t>MAE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FFFFFF"/>
                          </a:solidFill>
                        </a:rPr>
                        <a:t>A (Softmax)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FFFFFF"/>
                          </a:solidFill>
                        </a:rPr>
                        <a:t>80.18%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FFFFFF"/>
                          </a:solidFill>
                        </a:rPr>
                        <a:t>0.8724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FFFFFF"/>
                          </a:solidFill>
                        </a:rPr>
                        <a:t>41.7%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FFFFFF"/>
                          </a:solidFill>
                        </a:rPr>
                        <a:t>5.6%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FFFFFF"/>
                          </a:solidFill>
                        </a:rPr>
                        <a:t>0.2673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FFFFFF"/>
                          </a:solidFill>
                        </a:rPr>
                        <a:t>B (CORAL)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FFFFFF"/>
                          </a:solidFill>
                        </a:rPr>
                        <a:t>59.64%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FFFFFF"/>
                          </a:solidFill>
                        </a:rPr>
                        <a:t>0.7273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FFFFFF"/>
                          </a:solidFill>
                        </a:rPr>
                        <a:t>0.0%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FFFFFF"/>
                          </a:solidFill>
                        </a:rPr>
                        <a:t>26.4%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FFFFFF"/>
                          </a:solidFill>
                        </a:rPr>
                        <a:t>0.6964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FFFFFF"/>
                          </a:solidFill>
                        </a:rPr>
                        <a:t>C (Regression)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FFFFFF"/>
                          </a:solidFill>
                        </a:rPr>
                        <a:t>75.64%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FFFFFF"/>
                          </a:solidFill>
                        </a:rPr>
                        <a:t>0.8788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FFFFFF"/>
                          </a:solidFill>
                        </a:rPr>
                        <a:t>38.4%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FFFFFF"/>
                          </a:solidFill>
                        </a:rPr>
                        <a:t>3.8%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FFFFFF"/>
                          </a:solidFill>
                        </a:rPr>
                        <a:t>0.2873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FFFFFF"/>
                          </a:solidFill>
                        </a:rPr>
                        <a:t>D (CORN)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FFFFFF"/>
                          </a:solidFill>
                        </a:rPr>
                        <a:t>69.09%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FFFFFF"/>
                          </a:solidFill>
                        </a:rPr>
                        <a:t>0.8482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FFFFFF"/>
                          </a:solidFill>
                        </a:rPr>
                        <a:t>65.7%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FFFFFF"/>
                          </a:solidFill>
                        </a:rPr>
                        <a:t>5.1%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FFFFFF"/>
                          </a:solidFill>
                        </a:rPr>
                        <a:t>0.3764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FFFFFF"/>
                          </a:solidFill>
                        </a:rPr>
                        <a:t>3-Seed Ens.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FFFFFF"/>
                          </a:solidFill>
                        </a:rPr>
                        <a:t>83.82%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FFFFFF"/>
                          </a:solidFill>
                        </a:rPr>
                        <a:t>0.8859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FFFFFF"/>
                          </a:solidFill>
                        </a:rPr>
                        <a:t>44.8%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FFFFFF"/>
                          </a:solidFill>
                        </a:rPr>
                        <a:t>4.36%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FFFFFF"/>
                          </a:solidFill>
                        </a:rPr>
                        <a:t>0.2200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FFFFFF"/>
                          </a:solidFill>
                        </a:rPr>
                        <a:t>Ens. + Logit (0.5)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FFFFFF"/>
                          </a:solidFill>
                        </a:rPr>
                        <a:t>82.18%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FFFFFF"/>
                          </a:solidFill>
                        </a:rPr>
                        <a:t>0.8929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FFFFFF"/>
                          </a:solidFill>
                        </a:rPr>
                        <a:t>51.7%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FFFFFF"/>
                          </a:solidFill>
                        </a:rPr>
                        <a:t>-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FFFFFF"/>
                          </a:solidFill>
                        </a:rPr>
                        <a:t>0.2291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FFFFFF"/>
                          </a:solidFill>
                        </a:rPr>
                        <a:t>Ens. + Logit (1.5)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FFFFFF"/>
                          </a:solidFill>
                        </a:rPr>
                        <a:t>74.91%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FFFFFF"/>
                          </a:solidFill>
                        </a:rPr>
                        <a:t>0.8438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FFFFFF"/>
                          </a:solidFill>
                        </a:rPr>
                        <a:t>69.0%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FFFFFF"/>
                          </a:solidFill>
                        </a:rPr>
                        <a:t>-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FFFFFF"/>
                          </a:solidFill>
                        </a:rPr>
                        <a:t>0.3364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457200" y="2286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Variant C shifts errors to adjacent grades</a:t>
            </a:r>
            <a:endParaRPr lang="en-US" sz="2400" dirty="0"/>
          </a:p>
        </p:txBody>
      </p:sp>
      <p:graphicFrame>
        <p:nvGraphicFramePr>
          <p:cNvPr id="3" name="Chart 0" descr=""/>
          <p:cNvGraphicFramePr/>
          <p:nvPr/>
        </p:nvGraphicFramePr>
        <p:xfrm>
          <a:off x="365760" y="1005840"/>
          <a:ext cx="4023360" cy="27432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4" name="Chart 1" descr=""/>
          <p:cNvGraphicFramePr/>
          <p:nvPr/>
        </p:nvGraphicFramePr>
        <p:xfrm>
          <a:off x="4754880" y="1005840"/>
          <a:ext cx="4023360" cy="27432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5" name="Text 1"/>
          <p:cNvSpPr txBox="1"/>
          <p:nvPr/>
        </p:nvSpPr>
        <p:spPr>
          <a:xfrm>
            <a:off x="457200" y="393192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Variant C leaves 96.1% of test images within one grade of the truth and has no off-by-four errors. The severe-error rate falls from 31 patients (A) to 21, a 32.1% relative reduction.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4632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457200" y="2286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Why did regression beat CORAL here?</a:t>
            </a:r>
            <a:endParaRPr lang="en-US" sz="2400" dirty="0"/>
          </a:p>
        </p:txBody>
      </p:sp>
      <p:sp>
        <p:nvSpPr>
          <p:cNvPr id="4" name="Text 1"/>
          <p:cNvSpPr txBox="1"/>
          <p:nvPr/>
        </p:nvSpPr>
        <p:spPr>
          <a:xfrm>
            <a:off x="457200" y="1051560"/>
            <a:ext cx="822960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Skew: Grade 0 is 49.3% of data, Grade 3 only 5.3%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Unweighted CORAL sums four binary losses; threshold y &gt; 0 is about 50/50 while y &gt; 3 has about 8% positives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The dominant threshold's gradient pulls the shared w and compresses boundaries for Grades 2–3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Smooth L1 is quadratic when |error| &lt; 1 and linear beyond, giving a stable pull proportional to distance</a:t>
            </a:r>
            <a:endParaRPr lang="en-US" sz="1400" dirty="0"/>
          </a:p>
        </p:txBody>
      </p:sp>
      <p:sp>
        <p:nvSpPr>
          <p:cNvPr id="5" name="Text 2"/>
          <p:cNvSpPr txBox="1"/>
          <p:nvPr/>
        </p:nvSpPr>
        <p:spPr>
          <a:xfrm>
            <a:off x="457200" y="384048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Smooth L1:  0.5(y − ŝ)² if |y − ŝ| &lt; 1,  otherwise |y − ŝ| − 0.5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4632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457200" y="2286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Statistical significance (paired bootstrap, B = 1,000)</a:t>
            </a:r>
            <a:endParaRPr lang="en-US" sz="2400" dirty="0"/>
          </a:p>
        </p:txBody>
      </p:sp>
      <p:sp>
        <p:nvSpPr>
          <p:cNvPr id="3" name="CA card"/>
          <p:cNvSpPr/>
          <p:nvPr/>
        </p:nvSpPr>
        <p:spPr>
          <a:xfrm>
            <a:off x="457200" y="1051560"/>
            <a:ext cx="3977640" cy="2194560"/>
          </a:xfrm>
          <a:prstGeom prst="rect">
            <a:avLst/>
          </a:prstGeom>
          <a:solidFill>
            <a:schemeClr val="bg2"/>
          </a:solidFill>
          <a:ln w="12700">
            <a:solidFill>
              <a:schemeClr val="accent2"/>
            </a:solidFill>
            <a:prstDash val="solid"/>
          </a:ln>
        </p:spPr>
        <p:txBody>
          <a:bodyPr/>
          <a:p/>
        </p:txBody>
      </p:sp>
      <p:sp>
        <p:nvSpPr>
          <p:cNvPr id="4" name="CA header"/>
          <p:cNvSpPr/>
          <p:nvPr/>
        </p:nvSpPr>
        <p:spPr>
          <a:xfrm>
            <a:off x="457200" y="1051560"/>
            <a:ext cx="3977640" cy="365760"/>
          </a:xfrm>
          <a:prstGeom prst="rect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548640" y="1051560"/>
            <a:ext cx="3794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C vs A (softmax)</a:t>
            </a:r>
            <a:endParaRPr lang="en-US" sz="1200" dirty="0"/>
          </a:p>
        </p:txBody>
      </p:sp>
      <p:sp>
        <p:nvSpPr>
          <p:cNvPr id="7" name="BA card"/>
          <p:cNvSpPr/>
          <p:nvPr/>
        </p:nvSpPr>
        <p:spPr>
          <a:xfrm>
            <a:off x="4709160" y="1051560"/>
            <a:ext cx="3977640" cy="2194560"/>
          </a:xfrm>
          <a:prstGeom prst="rect">
            <a:avLst/>
          </a:prstGeom>
          <a:solidFill>
            <a:schemeClr val="bg2"/>
          </a:solidFill>
          <a:ln w="12700">
            <a:solidFill>
              <a:schemeClr val="accent4"/>
            </a:solidFill>
            <a:prstDash val="solid"/>
          </a:ln>
        </p:spPr>
        <p:txBody>
          <a:bodyPr/>
          <a:p/>
        </p:txBody>
      </p:sp>
      <p:sp>
        <p:nvSpPr>
          <p:cNvPr id="8" name="BA header"/>
          <p:cNvSpPr/>
          <p:nvPr/>
        </p:nvSpPr>
        <p:spPr>
          <a:xfrm>
            <a:off x="4709160" y="1051560"/>
            <a:ext cx="3977640" cy="365760"/>
          </a:xfrm>
          <a:prstGeom prst="rect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 txBox="1"/>
          <p:nvPr/>
        </p:nvSpPr>
        <p:spPr>
          <a:xfrm>
            <a:off x="4800600" y="1051560"/>
            <a:ext cx="3794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B vs A (softmax)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3520440"/>
            <a:ext cx="8229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</a:rPr>
              <a:t>The severe-error reduction (31 → 21 patients) is descriptive. No test confirms it, so present it as a favourable trend on one split, not a proven effect. CORAL likely needs inverse-frequency weighting.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4632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14</a:t>
            </a:fld>
            <a:endParaRPr lang="en-US"/>
          </a:p>
        </p:txBody>
      </p:sp>
      <p:sp>
        <p:nvSpPr>
          <p:cNvPr id="26" name="TextBox 25"/>
          <p:cNvSpPr txBox="1"/>
          <p:nvPr/>
        </p:nvSpPr>
        <p:spPr>
          <a:xfrm>
            <a:off x="457200" y="3931920"/>
            <a:ext cx="8229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defRPr b="1" sz="1400">
                <a:solidFill>
                  <a:srgbClr val="7DD3FC"/>
                </a:solidFill>
              </a:defRPr>
            </a:pPr>
            <a:r>
              <a:rPr>
                <a:solidFill>
                  <a:srgbClr val="0F172A"/>
                </a:solidFill>
              </a:rPr>
              <a:t>Variant D (CORN) vs. Variant B (CORAL):</a:t>
            </a:r>
          </a:p>
          <a:p>
            <a:pPr>
              <a:defRPr sz="1200">
                <a:solidFill>
                  <a:srgbClr val="FFFFFF"/>
                </a:solidFill>
              </a:defRPr>
            </a:pPr>
            <a:r>
              <a:rPr>
                <a:solidFill>
                  <a:srgbClr val="0F172A"/>
                </a:solidFill>
              </a:rPr>
              <a:t>ΔQWK = +0.1212 (95% CI: [+0.0924, +0.1504], p &lt; 0.001). Wilcoxon signed-rank p = 9.35e-21. Statistically decisive improvement on minority classes.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457200" y="2286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Expert-system safety envelope</a:t>
            </a:r>
            <a:endParaRPr lang="en-US" sz="2400" dirty="0"/>
          </a:p>
        </p:txBody>
      </p:sp>
      <p:sp>
        <p:nvSpPr>
          <p:cNvPr id="4" name="perception card"/>
          <p:cNvSpPr/>
          <p:nvPr/>
        </p:nvSpPr>
        <p:spPr>
          <a:xfrm>
            <a:off x="457200" y="1051560"/>
            <a:ext cx="2606040" cy="1554480"/>
          </a:xfrm>
          <a:prstGeom prst="rect">
            <a:avLst/>
          </a:prstGeom>
          <a:solidFill>
            <a:schemeClr val="bg2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5" name="perception header"/>
          <p:cNvSpPr/>
          <p:nvPr/>
        </p:nvSpPr>
        <p:spPr>
          <a:xfrm>
            <a:off x="457200" y="1051560"/>
            <a:ext cx="2606040" cy="365760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548640" y="1051560"/>
            <a:ext cx="2423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Perception layer</a:t>
            </a:r>
            <a:endParaRPr lang="en-US" sz="12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1508760"/>
            <a:ext cx="24231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0F172A"/>
                </a:solidFill>
              </a:rPr>
              <a:t>Variant C predicts a grade ŷ in {0..4}; 96.1% of errors are within one grade.</a:t>
            </a:r>
            <a:endParaRPr lang="en-US" sz="1100" dirty="0"/>
          </a:p>
        </p:txBody>
      </p:sp>
      <p:sp>
        <p:nvSpPr>
          <p:cNvPr id="8" name="rules card"/>
          <p:cNvSpPr/>
          <p:nvPr/>
        </p:nvSpPr>
        <p:spPr>
          <a:xfrm>
            <a:off x="3291840" y="1051560"/>
            <a:ext cx="2606040" cy="1554480"/>
          </a:xfrm>
          <a:prstGeom prst="rect">
            <a:avLst/>
          </a:prstGeom>
          <a:solidFill>
            <a:schemeClr val="bg2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9" name="rules header"/>
          <p:cNvSpPr/>
          <p:nvPr/>
        </p:nvSpPr>
        <p:spPr>
          <a:xfrm>
            <a:off x="3291840" y="1051560"/>
            <a:ext cx="2606040" cy="365760"/>
          </a:xfrm>
          <a:prstGeom prst="rect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3383280" y="1051560"/>
            <a:ext cx="2423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Rule engine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3383280" y="1508760"/>
            <a:ext cx="24231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0F172A"/>
                </a:solidFill>
              </a:rPr>
              <a:t>ŷ ≤ 1 → annual screen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0F172A"/>
                </a:solidFill>
              </a:rPr>
              <a:t>ŷ = 2 → 6-month review + OCT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0F172A"/>
                </a:solidFill>
              </a:rPr>
              <a:t>ŷ ≥ 3 → urgent specialist referral</a:t>
            </a:r>
            <a:endParaRPr lang="en-US" sz="1100" dirty="0"/>
          </a:p>
        </p:txBody>
      </p:sp>
      <p:sp>
        <p:nvSpPr>
          <p:cNvPr id="12" name="outcome card"/>
          <p:cNvSpPr/>
          <p:nvPr/>
        </p:nvSpPr>
        <p:spPr>
          <a:xfrm>
            <a:off x="6126480" y="1051560"/>
            <a:ext cx="2606040" cy="1554480"/>
          </a:xfrm>
          <a:prstGeom prst="rect">
            <a:avLst/>
          </a:prstGeom>
          <a:solidFill>
            <a:schemeClr val="bg2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13" name="outcome header"/>
          <p:cNvSpPr/>
          <p:nvPr/>
        </p:nvSpPr>
        <p:spPr>
          <a:xfrm>
            <a:off x="6126480" y="1051560"/>
            <a:ext cx="2606040" cy="365760"/>
          </a:xfrm>
          <a:prstGeom prst="rect">
            <a:avLst/>
          </a:prstGeom>
          <a:solidFill>
            <a:schemeClr val="accent6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6217920" y="1051560"/>
            <a:ext cx="2423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Outcome</a:t>
            </a:r>
            <a:endParaRPr lang="en-US" sz="1200" dirty="0"/>
          </a:p>
        </p:txBody>
      </p:sp>
      <p:sp>
        <p:nvSpPr>
          <p:cNvPr id="15" name="Text 12"/>
          <p:cNvSpPr txBox="1"/>
          <p:nvPr/>
        </p:nvSpPr>
        <p:spPr>
          <a:xfrm>
            <a:off x="6217920" y="1508760"/>
            <a:ext cx="24231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0F172A"/>
                </a:solidFill>
              </a:rPr>
              <a:t>Softmax: 31 severe misses. Variant C: 21, and none off by four.</a:t>
            </a:r>
            <a:endParaRPr lang="en-US" sz="1100" dirty="0"/>
          </a:p>
        </p:txBody>
      </p:sp>
      <p:sp>
        <p:nvSpPr>
          <p:cNvPr id="16" name="Text 13"/>
          <p:cNvSpPr txBox="1"/>
          <p:nvPr/>
        </p:nvSpPr>
        <p:spPr>
          <a:xfrm>
            <a:off x="457200" y="292608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</a:rPr>
              <a:t>Confining errors to adjacent grades keeps proliferative retinopathy on escalated pathways rather than routine follow-up.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4632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457200" y="2286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Limitations and future work</a:t>
            </a:r>
            <a:endParaRPr lang="en-US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005840"/>
            <a:ext cx="3931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4"/>
                </a:solidFill>
              </a:rPr>
              <a:t>Limitations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371600"/>
            <a:ext cx="393192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Unweighted CORAL is sensitive to class skew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Single cohort; external validation (Messidor-2, EyePACS, DDR) needed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8 epochs per variant; longer schedules may help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Image-level labels only; no lesion masks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4754880" y="1005840"/>
            <a:ext cx="3931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endParaRPr lang="en-US" sz="1500" dirty="0"/>
          </a:p>
          <a:p>
            <a:pPr>
              <a:defRPr b="1" sz="1800">
                <a:solidFill>
                  <a:srgbClr val="7DD3FC"/>
                </a:solidFill>
              </a:defRPr>
            </a:pPr>
            <a:r>
              <a:t>Future Work (Section 9.2)</a:t>
            </a:r>
          </a:p>
          <a:p>
            <a:pPr>
              <a:defRPr sz="1400">
                <a:solidFill>
                  <a:srgbClr val="FFFFFF"/>
                </a:solidFill>
              </a:defRPr>
            </a:pPr>
            <a:r>
              <a:t>1. Multimodal Vision-Language Explanations: Integrate CORN with models like BiomedCLIP.</a:t>
            </a:r>
          </a:p>
          <a:p>
            <a:pPr>
              <a:defRPr sz="1400">
                <a:solidFill>
                  <a:srgbClr val="FFFFFF"/>
                </a:solidFill>
              </a:defRPr>
            </a:pPr>
            <a:r>
              <a:t>2. Multi-Center Clinical Validation: Generalization across Messidor-2, DDR, EyePACS.</a:t>
            </a:r>
          </a:p>
          <a:p>
            <a:pPr>
              <a:defRPr sz="1400">
                <a:solidFill>
                  <a:srgbClr val="FFFFFF"/>
                </a:solidFill>
              </a:defRPr>
            </a:pPr>
            <a:r>
              <a:t>3. Edge Deployment on Handheld Cameras: Quantize to INT8 using TensorRT.</a:t>
            </a:r>
          </a:p>
        </p:txBody>
      </p:sp>
      <p:sp>
        <p:nvSpPr>
          <p:cNvPr id="6" name="Text 4"/>
          <p:cNvSpPr txBox="1"/>
          <p:nvPr/>
        </p:nvSpPr>
        <p:spPr>
          <a:xfrm>
            <a:off x="4754880" y="1371600"/>
            <a:ext cx="393192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endParaRPr lang="en-US" sz="1200" dirty="0"/>
          </a:p>
          <a:p>
            <a:pPr>
              <a:defRPr b="1" sz="1800">
                <a:solidFill>
                  <a:srgbClr val="7DD3FC"/>
                </a:solidFill>
              </a:defRPr>
            </a:pPr>
            <a:r>
              <a:t>Future Work (Section 9.2)</a:t>
            </a:r>
          </a:p>
          <a:p>
            <a:pPr>
              <a:defRPr sz="1400">
                <a:solidFill>
                  <a:srgbClr val="FFFFFF"/>
                </a:solidFill>
              </a:defRPr>
            </a:pPr>
            <a:r>
              <a:t>1. Multimodal Vision-Language Explanations: Integrate CORN with models like BiomedCLIP.</a:t>
            </a:r>
          </a:p>
          <a:p>
            <a:pPr>
              <a:defRPr sz="1400">
                <a:solidFill>
                  <a:srgbClr val="FFFFFF"/>
                </a:solidFill>
              </a:defRPr>
            </a:pPr>
            <a:r>
              <a:t>2. Multi-Center Clinical Validation: Generalization across Messidor-2, DDR, EyePACS.</a:t>
            </a:r>
          </a:p>
          <a:p>
            <a:pPr>
              <a:defRPr sz="1400">
                <a:solidFill>
                  <a:srgbClr val="FFFFFF"/>
                </a:solidFill>
              </a:defRPr>
            </a:pPr>
            <a:r>
              <a:t>3. Edge Deployment on Handheld Cameras: Quantize to INT8 using TensorRT.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4632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457200" y="2286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References (IEEE)</a:t>
            </a:r>
            <a:endParaRPr lang="en-US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005840"/>
            <a:ext cx="822960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[1] Khalifa et al., Acta Inform. Med., 27(5), 2019.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[2] Shakibania et al., arXiv:2308.09945, 2023.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[3] Tymchenko et al., arXiv:2003.02261, 2020.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[4] Mardianta et al., arXiv:2504.05696, 2025.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[5] Karthik et al., arXiv:2511.16294, 2025.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[6] Khokhar et al., arXiv:2604.23079, 2026.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[7] Manoj &amp; Bhosale, arXiv:2401.02759, 2024.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[8] Cao, Mirjalili, Raschka, Pattern Recognit. Lett., 140, 2020 (CORAL).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[9] Cohen, Psychol. Bull., 70(4), 1968 (weighted kappa).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[10] Wilkinson et al., Ophthalmology, 110(9), 2003 (ICDR scale).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[11] He et al., CVPR, 2016 (ResNet).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4632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DR Ordinal">
  <a:themeElements>
    <a:clrScheme name="DR Ordinal">
      <a:dk1>
        <a:srgbClr val="1B2A41"/>
      </a:dk1>
      <a:lt1>
        <a:srgbClr val="FFFFFF"/>
      </a:lt1>
      <a:dk2>
        <a:srgbClr val="0B2545"/>
      </a:dk2>
      <a:lt2>
        <a:srgbClr val="F1F5F9"/>
      </a:lt2>
      <a:accent1>
        <a:srgbClr val="0284C7"/>
      </a:accent1>
      <a:accent2>
        <a:srgbClr val="13A89E"/>
      </a:accent2>
      <a:accent3>
        <a:srgbClr val="F59E0B"/>
      </a:accent3>
      <a:accent4>
        <a:srgbClr val="EF4444"/>
      </a:accent4>
      <a:accent5>
        <a:srgbClr val="64748B"/>
      </a:accent5>
      <a:accent6>
        <a:srgbClr val="22C55E"/>
      </a:accent6>
      <a:hlink>
        <a:srgbClr val="0284C7"/>
      </a:hlink>
      <a:folHlink>
        <a:srgbClr val="64748B"/>
      </a:folHlink>
    </a:clrScheme>
    <a:fontScheme name="DR Ordinal">
      <a:majorFont>
        <a:latin typeface="Calibr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Ordinal Neural Networks for Diabetic Retinopathy Staging</dc:title>
  <dc:subject>PptxGenJS Presentation</dc:subject>
  <dc:creator>PptxGenJS</dc:creator>
  <cp:lastModifiedBy>PptxGenJS</cp:lastModifiedBy>
  <cp:revision>1</cp:revision>
  <dcterms:created xsi:type="dcterms:W3CDTF">2026-10-02T12:41:13Z</dcterms:created>
  <dcterms:modified xsi:type="dcterms:W3CDTF">2026-10-02T12:41:13Z</dcterms:modified>
</cp:coreProperties>
</file>